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71" r:id="rId5"/>
    <p:sldId id="268" r:id="rId6"/>
    <p:sldId id="257" r:id="rId7"/>
    <p:sldId id="260" r:id="rId8"/>
    <p:sldId id="270" r:id="rId9"/>
    <p:sldId id="262" r:id="rId10"/>
    <p:sldId id="264" r:id="rId11"/>
    <p:sldId id="267" r:id="rId12"/>
    <p:sldId id="266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0056-E85A-1775-E981-895416090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2B6A0-AF92-AB78-26F1-C3026EB32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9B0F2-B0F4-73D5-5562-6612D971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4276-EDB2-9EE3-7817-A6AD2D17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3561-4E97-FC76-AC1A-1FE01C0F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4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CE03-BF8C-9F24-6657-26D17E6D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B5D5-999C-1FD2-30FE-2F26722C5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221FD-5CB6-03A0-A27B-3647C367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08FD1-27C9-392D-F7C0-4E6396EB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1E4F9-1D6F-86F8-8547-9CEDCD85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9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FDC7-24DD-FCE1-0A6F-EA9B37AD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51417-63C2-04C6-F8E6-8C764F465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39175-6C0A-0575-9D12-8C2E968B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6DE04-A1E0-288F-3B8A-417427B4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D7DD-A690-DAAD-FB2B-567F773D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0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B977-775D-3229-02FE-18EE6141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8780-4906-6A79-AB92-63BE20BCD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A9CED-909D-1371-6CAF-BB52F3379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AE211-1551-E04C-19C2-3EE133D4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7E22C-23D7-B7A0-A772-5676B038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49669-0492-BA91-FB59-7F829032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3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A3D9-28D9-D2FC-EEA7-9D929564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C0EC8-1FF8-A8C6-85C2-740B00648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B9716-C6AC-7BA5-6E63-7B99C3E4F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DA912-53E1-3C20-41DC-4C4ADE7EA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C05F7-AA6C-EAFD-0DBF-F9D42DF3D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7AEDC-8CB0-2A85-4451-E3BA0AA1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5F1AB-DF3E-AA84-97AB-FF5BD672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EDF51-CB8C-F9E0-543A-4C953EC3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2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011F-28C2-2944-50F7-D00043DE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9D18C-B8A5-B736-D525-6B93675B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20253-BF1A-BBA9-FF25-46D26C98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C2F79-B489-1033-56F1-D12E3D39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3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BEF61-E4F5-8F8B-AB4A-51B71D29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553E6-F04B-67F9-0E8F-055FC3DC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14DD2-3308-AE34-C393-DB2EC8E2E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7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1BFF-7A43-ED30-BBE6-0A245F3A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96F1-C4C2-DCF2-2C0D-D05C7FAE3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4B902-E4E8-EB7C-20EE-5F3E0837C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2A38C-F67C-15D3-D798-CE6B7EFF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2D5F1-F2F9-D46F-5108-3644A84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90368-2F04-F19D-CE88-5F09541C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E403-D9DE-2C43-45DF-8BEC0F8E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0542F-B31E-AA5E-4B38-F9BACD283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D959D-07A4-B2F7-ABC0-30A7A0D6A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3F88E-B996-6FD4-CB28-06CE9096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1B333-6D6D-C0FC-170E-EB1961B1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8B7E-771D-1692-2208-CD713616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6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42EC-306A-C182-CE6B-1E151394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0614F-5833-7608-7007-2935EB31F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C08B-4949-6B8E-BAF3-FDC7FA62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FF4D2-71F7-24FF-DFAA-7A4A4E5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7B676-1EE0-2F05-5C05-839AC0C4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4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2BC0C-C256-9E33-962F-7D94F707C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E8711-2B91-20F8-9A50-D384DCD24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DAD3-1D45-83FE-305A-FDDCF0F5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1E53D-DCB6-D8C7-D9A9-B5D64C9A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677A7-C2E3-E29D-7A7B-8D89901E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3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63D87C-1B43-4E29-E26C-37A43D25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962C-8B53-1397-777F-17482E050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733DC-C61E-0F04-F183-67466679C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40B3B-8804-4F8C-947D-DAE326DF01B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E0046-0334-8B28-A7A5-A2583BA8F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8607C-3AC0-1081-5D3F-785A56340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FE992-0CD2-4DEA-8844-302AB07E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083723-D5EE-35F4-BBBE-E958D124A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&amp; GitHub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3AC99E-81FB-26A7-DA91-52F89A5FE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Forking; Git Branching; Git Cloning</a:t>
            </a:r>
          </a:p>
          <a:p>
            <a:r>
              <a:rPr lang="en-US" dirty="0"/>
              <a:t>Git Workflow </a:t>
            </a:r>
          </a:p>
          <a:p>
            <a:r>
              <a:rPr lang="en-US" dirty="0"/>
              <a:t>Functionality; Git repo</a:t>
            </a:r>
          </a:p>
          <a:p>
            <a:r>
              <a:rPr lang="en-US" dirty="0"/>
              <a:t>Pull Request; Review/manage PR</a:t>
            </a:r>
          </a:p>
          <a:p>
            <a:r>
              <a:rPr lang="en-US" dirty="0"/>
              <a:t>Git commands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41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0FF5-87DA-0ED1-F9D2-9A82DFBF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4C8B-AA8E-8BB6-C674-5F13FA823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81" y="1232898"/>
            <a:ext cx="10515600" cy="5424755"/>
          </a:xfrm>
        </p:spPr>
        <p:txBody>
          <a:bodyPr>
            <a:normAutofit/>
          </a:bodyPr>
          <a:lstStyle/>
          <a:p>
            <a:r>
              <a:rPr lang="en-US" dirty="0"/>
              <a:t>Git is a version-control system that helps you manage code in both a local repository on your machine and a remote repository hosted on GitHub </a:t>
            </a:r>
          </a:p>
          <a:p>
            <a:pPr lvl="0"/>
            <a:r>
              <a:rPr lang="en-US" dirty="0"/>
              <a:t>Git tracks the history of changes made to files in a repository, including who made a change, when it was made, and what changed </a:t>
            </a:r>
          </a:p>
          <a:p>
            <a:pPr lvl="1"/>
            <a:r>
              <a:rPr lang="en-US" dirty="0"/>
              <a:t>Through `git revert` you can revert the change</a:t>
            </a:r>
          </a:p>
          <a:p>
            <a:r>
              <a:rPr lang="en-US" dirty="0"/>
              <a:t>Git itself handles local version history and synchronization with remote repositories.</a:t>
            </a:r>
          </a:p>
          <a:p>
            <a:r>
              <a:rPr lang="en-US" dirty="0"/>
              <a:t>Features such as forks and pull requests are provided by GitHub.</a:t>
            </a:r>
          </a:p>
        </p:txBody>
      </p:sp>
    </p:spTree>
    <p:extLst>
      <p:ext uri="{BB962C8B-B14F-4D97-AF65-F5344CB8AC3E}">
        <p14:creationId xmlns:p14="http://schemas.microsoft.com/office/powerpoint/2010/main" val="2833688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755F-396B-57B3-3834-9EC3D83E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4776-9EB7-FCD7-8CFD-94A7092D4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repository components:</a:t>
            </a:r>
          </a:p>
          <a:p>
            <a:pPr lvl="1"/>
            <a:r>
              <a:rPr lang="en-US" dirty="0"/>
              <a:t>Files and directories that you want to share and edit</a:t>
            </a:r>
          </a:p>
          <a:p>
            <a:pPr lvl="1"/>
            <a:r>
              <a:rPr lang="en-US" dirty="0"/>
              <a:t>The project history tracked by Git</a:t>
            </a:r>
          </a:p>
          <a:p>
            <a:r>
              <a:rPr lang="en-US" dirty="0"/>
              <a:t>Local repo / remote repo:</a:t>
            </a:r>
          </a:p>
          <a:p>
            <a:pPr lvl="1"/>
            <a:r>
              <a:rPr lang="en-US" dirty="0"/>
              <a:t>Through `git clone` you can download/create a local repo from a remote repo</a:t>
            </a:r>
          </a:p>
          <a:p>
            <a:pPr lvl="1"/>
            <a:r>
              <a:rPr lang="en-US" dirty="0"/>
              <a:t>`git remote add ` creates connection to a remote repo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4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B6DD-E0D3-C542-E268-564A2885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515600" cy="1325563"/>
          </a:xfrm>
        </p:spPr>
        <p:txBody>
          <a:bodyPr/>
          <a:lstStyle/>
          <a:p>
            <a:r>
              <a:rPr lang="en-US" dirty="0"/>
              <a:t>Git forking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17AEB-DF25-042E-FE0E-59C6616BA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938"/>
            <a:ext cx="10515600" cy="500402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Git fork is your own copy of someone else’s repository. </a:t>
            </a:r>
          </a:p>
          <a:p>
            <a:r>
              <a:rPr lang="en-US" dirty="0"/>
              <a:t>It lets you experiment with or change the code without affecting the original project, called the </a:t>
            </a:r>
            <a:r>
              <a:rPr lang="en-US" i="1" dirty="0"/>
              <a:t>upstream</a:t>
            </a:r>
            <a:r>
              <a:rPr lang="en-US" dirty="0"/>
              <a:t> repository. </a:t>
            </a:r>
          </a:p>
          <a:p>
            <a:r>
              <a:rPr lang="en-US" dirty="0"/>
              <a:t>Forking is commonly used when you want to contribute to a project but do not have direct permission to edit its main repository. </a:t>
            </a:r>
          </a:p>
          <a:p>
            <a:r>
              <a:rPr lang="en-US" dirty="0"/>
              <a:t>You can also sync your fork with the upstream repository to keep it up to date.</a:t>
            </a:r>
          </a:p>
          <a:p>
            <a:r>
              <a:rPr lang="en-US" dirty="0"/>
              <a:t>Use `git remote add upstream </a:t>
            </a:r>
            <a:r>
              <a:rPr lang="en-US" dirty="0" err="1"/>
              <a:t>upstream_url</a:t>
            </a:r>
            <a:r>
              <a:rPr lang="en-US" dirty="0"/>
              <a:t>` to connect to upstream repo</a:t>
            </a:r>
          </a:p>
          <a:p>
            <a:r>
              <a:rPr lang="en-US" dirty="0"/>
              <a:t>A branch is a separate line of work inside the same repository;  a fork is a separate copy of the entire repository under a different owner or account.</a:t>
            </a:r>
          </a:p>
          <a:p>
            <a:r>
              <a:rPr lang="en-US" dirty="0"/>
              <a:t>GitHub recommends using a branch when you can collaborate directly in the shared repository, and using a fork when you need an independent workspace or cannot push to the original repository.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2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554E-7692-BF0E-42F8-4A9CBB23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174F-854E-1B23-C5EB-E941A41E0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Side-by-side diagram comparing Git clone vs. Git fork. In cloning, three developers each have a clone that syncs via push and pull directly with the shared project repo. In forking, three developers clone the project repo the same way, but a fourth developer forks the project into a separate fork repo and syncs only with that fork, not the original.">
            <a:extLst>
              <a:ext uri="{FF2B5EF4-FFF2-40B4-BE49-F238E27FC236}">
                <a16:creationId xmlns:a16="http://schemas.microsoft.com/office/drawing/2014/main" id="{1D537E5F-61E1-DE1A-864C-CEB3CEA91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9" y="365125"/>
            <a:ext cx="9301779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6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8E13-5AFE-1833-0138-00FBF401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6664"/>
            <a:ext cx="10515600" cy="1325563"/>
          </a:xfrm>
        </p:spPr>
        <p:txBody>
          <a:bodyPr/>
          <a:lstStyle/>
          <a:p>
            <a:r>
              <a:rPr lang="en-US" dirty="0"/>
              <a:t>Git 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D99FB-2B8B-2B56-9CB6-4AAD9BA94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5668"/>
            <a:ext cx="10836729" cy="58766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git branch lets you work on a change independently from the main codebase. </a:t>
            </a:r>
          </a:p>
          <a:p>
            <a:r>
              <a:rPr lang="en-US" dirty="0"/>
              <a:t>Create a branch for a specific feature, release, independent development, testing, etc.</a:t>
            </a:r>
          </a:p>
          <a:p>
            <a:pPr lvl="1"/>
            <a:r>
              <a:rPr lang="en-US" dirty="0"/>
              <a:t>You can develop, test, review, and revise the work without affecting main branch.</a:t>
            </a:r>
          </a:p>
          <a:p>
            <a:pPr lvl="1"/>
            <a:r>
              <a:rPr lang="en-US" dirty="0"/>
              <a:t>You can simplify code review during PR by focusing on one feature at a time, because it can keep the changes for just one feature  </a:t>
            </a:r>
          </a:p>
          <a:p>
            <a:pPr lvl="0"/>
            <a:r>
              <a:rPr lang="en-US" dirty="0"/>
              <a:t>Changes made on the branch are isolated from the main branch, so the main code remains stable and keep from accidental corruption</a:t>
            </a:r>
          </a:p>
          <a:p>
            <a:pPr lvl="0"/>
            <a:r>
              <a:rPr lang="en-US" dirty="0"/>
              <a:t>When the work is ready, you can merge the branch into main.</a:t>
            </a:r>
          </a:p>
          <a:p>
            <a:pPr lvl="0"/>
            <a:r>
              <a:rPr lang="en-US" dirty="0"/>
              <a:t>If the work is no longer needed, you can delete the branch.</a:t>
            </a:r>
          </a:p>
          <a:p>
            <a:pPr lvl="1"/>
            <a:r>
              <a:rPr lang="en-US" dirty="0"/>
              <a:t> Work on a branch does not change the main branch until you merge it. The files are still part of the same repository, but each branch points to its own version/history of the code.</a:t>
            </a:r>
          </a:p>
          <a:p>
            <a:pPr lvl="1"/>
            <a:r>
              <a:rPr lang="en-US" dirty="0"/>
              <a:t>Example: You might create a branch named feature/login-page to build a new login page. After testing and code review, you merge it into main. If you decide not to use it, you can simply delete the branch.</a:t>
            </a:r>
          </a:p>
        </p:txBody>
      </p:sp>
    </p:spTree>
    <p:extLst>
      <p:ext uri="{BB962C8B-B14F-4D97-AF65-F5344CB8AC3E}">
        <p14:creationId xmlns:p14="http://schemas.microsoft.com/office/powerpoint/2010/main" val="332792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D918-B9D6-D72A-5B57-D0C1FDD1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067"/>
            <a:ext cx="10515600" cy="1325563"/>
          </a:xfrm>
        </p:spPr>
        <p:txBody>
          <a:bodyPr/>
          <a:lstStyle/>
          <a:p>
            <a:r>
              <a:rPr lang="en-US" dirty="0"/>
              <a:t>Git Command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1427E-C7A1-5D62-51A9-53A65A577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853"/>
            <a:ext cx="10515600" cy="26168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After making changes to files in a repository:</a:t>
            </a:r>
          </a:p>
          <a:p>
            <a:pPr marL="0" lvl="0" indent="0">
              <a:buNone/>
            </a:pPr>
            <a:r>
              <a:rPr lang="en-US" dirty="0"/>
              <a:t>1. Run `git add .` to stage all changed and new files for the next commit.</a:t>
            </a:r>
          </a:p>
          <a:p>
            <a:pPr lvl="1"/>
            <a:r>
              <a:rPr lang="en-US" dirty="0"/>
              <a:t>Alternatively, use git add &lt;file-name&gt; to stage only a specific file.</a:t>
            </a:r>
          </a:p>
          <a:p>
            <a:pPr marL="0" lvl="0" indent="0">
              <a:buNone/>
            </a:pPr>
            <a:r>
              <a:rPr lang="en-US" dirty="0"/>
              <a:t>2.  Run `git commit -m "message“` to permanently record the staged changes in your local repository with a descriptive commit message.</a:t>
            </a:r>
          </a:p>
          <a:p>
            <a:pPr marL="514350" lvl="0" indent="-514350">
              <a:buAutoNum type="arabicPeriod" startAt="3"/>
            </a:pPr>
            <a:r>
              <a:rPr lang="en-US" dirty="0"/>
              <a:t>Run `git push` to upload your committed changes to the configured remote repository, such as GitHub.</a:t>
            </a:r>
          </a:p>
          <a:p>
            <a:pPr marL="514350" lvl="0" indent="-514350">
              <a:buAutoNum type="arabicPeriod" startAt="3"/>
            </a:pPr>
            <a:endParaRPr lang="en-US" dirty="0"/>
          </a:p>
          <a:p>
            <a:pPr marL="514350" lvl="0" indent="-514350">
              <a:buAutoNum type="arabicPeriod" startAt="3"/>
            </a:pPr>
            <a:endParaRPr lang="en-US" dirty="0"/>
          </a:p>
          <a:p>
            <a:pPr marL="514350" lvl="0" indent="-514350">
              <a:buAutoNum type="arabicPeriod" startAt="3"/>
            </a:pPr>
            <a:endParaRPr lang="en-US" dirty="0"/>
          </a:p>
          <a:p>
            <a:pPr marL="514350" lvl="0" indent="-514350">
              <a:buAutoNum type="arabicPeriod" startAt="3"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87D16-4068-EF76-419D-68A9B53B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3596666"/>
            <a:ext cx="8729082" cy="326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4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8272-B38F-E931-FBA2-84A75713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70"/>
            <a:ext cx="10515600" cy="1325563"/>
          </a:xfrm>
        </p:spPr>
        <p:txBody>
          <a:bodyPr/>
          <a:lstStyle/>
          <a:p>
            <a:r>
              <a:rPr lang="en-US" dirty="0"/>
              <a:t>Workflow</a:t>
            </a:r>
          </a:p>
        </p:txBody>
      </p:sp>
      <p:pic>
        <p:nvPicPr>
          <p:cNvPr id="5" name="Picture 4" descr="Diagram showing the 7-step GitHub open-source contribution workflow: (1) fork the upstream repository, (2) clone it locally, (3) add the upstream remote, (4) create a new branch, (5) commit and push your work, (6) submit a pull request, (7) PR is merged by the maintainer.">
            <a:extLst>
              <a:ext uri="{FF2B5EF4-FFF2-40B4-BE49-F238E27FC236}">
                <a16:creationId xmlns:a16="http://schemas.microsoft.com/office/drawing/2014/main" id="{518E01C2-A6C5-0E76-C5E2-0A0B62754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64" y="2636151"/>
            <a:ext cx="5629246" cy="362585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4E0047-9CB7-EACC-15E3-9153FDEE62FD}"/>
              </a:ext>
            </a:extLst>
          </p:cNvPr>
          <p:cNvSpPr txBox="1">
            <a:spLocks/>
          </p:cNvSpPr>
          <p:nvPr/>
        </p:nvSpPr>
        <p:spPr>
          <a:xfrm>
            <a:off x="432708" y="1055462"/>
            <a:ext cx="111034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Typical Flow</a:t>
            </a:r>
          </a:p>
          <a:p>
            <a:pPr lvl="1"/>
            <a:r>
              <a:rPr lang="en-US" dirty="0"/>
              <a:t>(Fork → ) Clone → Create branch → Make changes → Commit → Push </a:t>
            </a:r>
          </a:p>
          <a:p>
            <a:pPr marL="457200" lvl="1" indent="0">
              <a:buNone/>
            </a:pPr>
            <a:r>
              <a:rPr lang="en-US" dirty="0"/>
              <a:t>    (→ Create Pull request → Review PR (or/and resolve conflict) → Merge or Reject )</a:t>
            </a:r>
          </a:p>
          <a:p>
            <a:endParaRPr lang="en-US" dirty="0"/>
          </a:p>
        </p:txBody>
      </p:sp>
      <p:pic>
        <p:nvPicPr>
          <p:cNvPr id="7" name="Picture 6" descr="A computer keyboard with hands and text showing how repos and version control are different when branching is involved.">
            <a:extLst>
              <a:ext uri="{FF2B5EF4-FFF2-40B4-BE49-F238E27FC236}">
                <a16:creationId xmlns:a16="http://schemas.microsoft.com/office/drawing/2014/main" id="{FC0B9352-2789-EFE4-0EF0-13D4F9DEFF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71" y="2574763"/>
            <a:ext cx="3939857" cy="35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6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A1EA-6362-9353-8D03-9348D8C1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3761"/>
            <a:ext cx="10515600" cy="1325563"/>
          </a:xfrm>
        </p:spPr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9A2D2-E7A9-BC55-8F4E-6495773CD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24" y="898071"/>
            <a:ext cx="11013896" cy="59599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Git supports collaboration by allowing people to work on code independently and then propose their changes for review.</a:t>
            </a:r>
          </a:p>
          <a:p>
            <a:pPr lvl="1"/>
            <a:r>
              <a:rPr lang="en-US" dirty="0"/>
              <a:t>Fork:  it creates a personal copy of another person’s remote repository. Contributors can make changes in their fork without directly modifying the original repository.</a:t>
            </a:r>
          </a:p>
          <a:p>
            <a:pPr lvl="1"/>
            <a:r>
              <a:rPr lang="en-US" dirty="0"/>
              <a:t>Clone:  it creates a local copy of a remote repository on a contributor’s computer. Typically, the fork is configured as the origin remote, while the original repository may be added as an upstream remote.</a:t>
            </a:r>
          </a:p>
          <a:p>
            <a:pPr lvl="1"/>
            <a:r>
              <a:rPr lang="en-US" dirty="0"/>
              <a:t>Branch:  Create a branch for a specific feature, bug fix, experiment, or other development task. This isolates the work from the project’s main branch.</a:t>
            </a:r>
          </a:p>
          <a:p>
            <a:pPr lvl="1"/>
            <a:r>
              <a:rPr lang="en-US" dirty="0"/>
              <a:t>Add and Commit:  Make changes and create a commit. A commit records a set of staged changes in the repository’s history and receives a unique identifier called a commit hash.</a:t>
            </a:r>
          </a:p>
        </p:txBody>
      </p:sp>
    </p:spTree>
    <p:extLst>
      <p:ext uri="{BB962C8B-B14F-4D97-AF65-F5344CB8AC3E}">
        <p14:creationId xmlns:p14="http://schemas.microsoft.com/office/powerpoint/2010/main" val="315921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C64F-AC78-4A70-0527-4F0509A7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7B53D-8E5F-1D10-AB4D-E69D53AD8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Push:  push the branch and its commits to the remote repository, usually the contributor’s fork.</a:t>
            </a:r>
          </a:p>
          <a:p>
            <a:pPr lvl="1"/>
            <a:r>
              <a:rPr lang="en-US" dirty="0"/>
              <a:t>Pull Request:  </a:t>
            </a:r>
          </a:p>
          <a:p>
            <a:pPr lvl="2"/>
            <a:r>
              <a:rPr lang="en-US" dirty="0"/>
              <a:t>Open a pull request to propose merging changes from the contributor’s branch or fork into a target branch, usually the project’s main branch.</a:t>
            </a:r>
          </a:p>
          <a:p>
            <a:pPr lvl="2"/>
            <a:r>
              <a:rPr lang="en-US" dirty="0"/>
              <a:t>Conflict:  GitHub checks whether the pull request can be merged cleanly. If the proposed changes conflict with the current target branch, the conflicts must be resolved before merging.</a:t>
            </a:r>
          </a:p>
          <a:p>
            <a:pPr lvl="2"/>
            <a:r>
              <a:rPr lang="en-US" dirty="0"/>
              <a:t>Review/Resolving conflict:  Project owner can review the changes, leave comments, request revisions, approve the pull request, resolve merge conflicts, merge the changes, or close the pull request without merging it.</a:t>
            </a:r>
          </a:p>
        </p:txBody>
      </p:sp>
    </p:spTree>
    <p:extLst>
      <p:ext uri="{BB962C8B-B14F-4D97-AF65-F5344CB8AC3E}">
        <p14:creationId xmlns:p14="http://schemas.microsoft.com/office/powerpoint/2010/main" val="157571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A4B98-5090-99CA-6227-9944D0DE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21F8-EEBE-CACB-78AB-A406B018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Git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8A8E-6384-4A0E-E3E3-15D8DE9FB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81" y="1253330"/>
            <a:ext cx="10515600" cy="5250211"/>
          </a:xfrm>
        </p:spPr>
        <p:txBody>
          <a:bodyPr>
            <a:normAutofit/>
          </a:bodyPr>
          <a:lstStyle/>
          <a:p>
            <a:r>
              <a:rPr lang="en-US" dirty="0"/>
              <a:t>Download a remote repo on your local machine:  </a:t>
            </a:r>
          </a:p>
          <a:p>
            <a:pPr lvl="1"/>
            <a:r>
              <a:rPr lang="en-US" dirty="0"/>
              <a:t>git clone </a:t>
            </a:r>
          </a:p>
          <a:p>
            <a:r>
              <a:rPr lang="en-US" dirty="0"/>
              <a:t>Connect a local repo to a remote repo:  </a:t>
            </a:r>
          </a:p>
          <a:p>
            <a:pPr lvl="1"/>
            <a:r>
              <a:rPr lang="en-US" dirty="0"/>
              <a:t>git remote add origin </a:t>
            </a:r>
            <a:r>
              <a:rPr lang="en-US" dirty="0" err="1"/>
              <a:t>url</a:t>
            </a:r>
            <a:endParaRPr lang="en-US" dirty="0"/>
          </a:p>
          <a:p>
            <a:pPr lvl="1"/>
            <a:r>
              <a:rPr lang="en-US" dirty="0"/>
              <a:t>Git remote add upstream </a:t>
            </a:r>
            <a:r>
              <a:rPr lang="en-US" dirty="0" err="1"/>
              <a:t>url</a:t>
            </a:r>
            <a:endParaRPr lang="en-US" dirty="0"/>
          </a:p>
          <a:p>
            <a:r>
              <a:rPr lang="en-US" dirty="0"/>
              <a:t>Look at the changes made on local repo:  </a:t>
            </a:r>
          </a:p>
          <a:p>
            <a:pPr lvl="1"/>
            <a:r>
              <a:rPr lang="en-US" dirty="0"/>
              <a:t>git diff                       		   ## view </a:t>
            </a:r>
            <a:r>
              <a:rPr lang="en-US" dirty="0" err="1"/>
              <a:t>unstaged</a:t>
            </a:r>
            <a:r>
              <a:rPr lang="en-US" dirty="0"/>
              <a:t> changes in your working branch </a:t>
            </a:r>
          </a:p>
          <a:p>
            <a:pPr lvl="1"/>
            <a:r>
              <a:rPr lang="en-US" dirty="0"/>
              <a:t>git diff branch1 main  	   ##compare current state of branch1 with main </a:t>
            </a:r>
          </a:p>
          <a:p>
            <a:r>
              <a:rPr lang="en-US" dirty="0"/>
              <a:t>Display the current state of your repo:</a:t>
            </a:r>
          </a:p>
          <a:p>
            <a:pPr lvl="1"/>
            <a:r>
              <a:rPr lang="en-US" dirty="0"/>
              <a:t>git status                         	    ## display both staged and </a:t>
            </a:r>
            <a:r>
              <a:rPr lang="en-US" dirty="0" err="1"/>
              <a:t>unstaged</a:t>
            </a:r>
            <a:r>
              <a:rPr lang="en-US" dirty="0"/>
              <a:t> changes.</a:t>
            </a:r>
          </a:p>
        </p:txBody>
      </p:sp>
    </p:spTree>
    <p:extLst>
      <p:ext uri="{BB962C8B-B14F-4D97-AF65-F5344CB8AC3E}">
        <p14:creationId xmlns:p14="http://schemas.microsoft.com/office/powerpoint/2010/main" val="11085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9468-427E-D0E7-9023-AA825F7A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Git command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E7F06-C22A-14F2-A47C-896513962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81" y="1253331"/>
            <a:ext cx="10515600" cy="5322130"/>
          </a:xfrm>
        </p:spPr>
        <p:txBody>
          <a:bodyPr>
            <a:normAutofit fontScale="92500" lnSpcReduction="20000"/>
          </a:bodyPr>
          <a:lstStyle/>
          <a:p>
            <a:pPr lvl="1"/>
            <a:endParaRPr lang="en-US" dirty="0"/>
          </a:p>
          <a:p>
            <a:r>
              <a:rPr lang="en-US" dirty="0"/>
              <a:t>Create/move to a branch:</a:t>
            </a:r>
          </a:p>
          <a:p>
            <a:pPr lvl="1"/>
            <a:r>
              <a:rPr lang="en-US" dirty="0"/>
              <a:t>git branch                               ##list all branches</a:t>
            </a:r>
          </a:p>
          <a:p>
            <a:pPr lvl="1"/>
            <a:r>
              <a:rPr lang="en-US" dirty="0"/>
              <a:t>git branch branch1         ## Create a new branch without switching to it</a:t>
            </a:r>
          </a:p>
          <a:p>
            <a:pPr lvl="1"/>
            <a:r>
              <a:rPr lang="en-US" dirty="0"/>
              <a:t>git checkout –b branch1   ## with option ‘-b’, create a new branch ‘branch1’ and immediately switch to it</a:t>
            </a:r>
          </a:p>
          <a:p>
            <a:pPr lvl="1"/>
            <a:r>
              <a:rPr lang="en-US" dirty="0"/>
              <a:t>git switch branch0              ##switch to an existing branch ‘branch0’</a:t>
            </a:r>
          </a:p>
          <a:p>
            <a:r>
              <a:rPr lang="en-US" dirty="0"/>
              <a:t>Combine changes :</a:t>
            </a:r>
          </a:p>
          <a:p>
            <a:pPr lvl="1"/>
            <a:r>
              <a:rPr lang="en-US" dirty="0"/>
              <a:t>git merge branch1       ## combine changes from branch1 into the current one</a:t>
            </a:r>
          </a:p>
          <a:p>
            <a:pPr lvl="1"/>
            <a:r>
              <a:rPr lang="en-US" dirty="0"/>
              <a:t>git merge branch1 main     ##combine changes on branch1 into the main branch</a:t>
            </a:r>
          </a:p>
          <a:p>
            <a:r>
              <a:rPr lang="en-US" dirty="0"/>
              <a:t>Add changes:  </a:t>
            </a:r>
          </a:p>
          <a:p>
            <a:pPr lvl="1"/>
            <a:r>
              <a:rPr lang="en-US" dirty="0"/>
              <a:t>git add .                ## add all changes to </a:t>
            </a:r>
            <a:r>
              <a:rPr lang="en-US" dirty="0" err="1"/>
              <a:t>stageing</a:t>
            </a:r>
            <a:r>
              <a:rPr lang="en-US" dirty="0"/>
              <a:t> area</a:t>
            </a:r>
          </a:p>
          <a:p>
            <a:pPr lvl="1"/>
            <a:r>
              <a:rPr lang="en-US" dirty="0"/>
              <a:t>git add file1             ##add file1 to staging area</a:t>
            </a:r>
          </a:p>
          <a:p>
            <a:r>
              <a:rPr lang="en-US" dirty="0"/>
              <a:t>Record changes (let git track changes) in local repo:  </a:t>
            </a:r>
          </a:p>
          <a:p>
            <a:pPr lvl="1"/>
            <a:r>
              <a:rPr lang="en-US" dirty="0"/>
              <a:t>git commit –m “message”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42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0B2EA-CD31-57D1-4D11-286AAA174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commit history (hashes)</a:t>
            </a:r>
          </a:p>
          <a:p>
            <a:pPr lvl="1"/>
            <a:r>
              <a:rPr lang="en-US" dirty="0"/>
              <a:t>git log</a:t>
            </a:r>
          </a:p>
          <a:p>
            <a:r>
              <a:rPr lang="en-US" dirty="0"/>
              <a:t>Upload the changes from local repo to remote repo:</a:t>
            </a:r>
          </a:p>
          <a:p>
            <a:pPr lvl="1"/>
            <a:r>
              <a:rPr lang="en-US" dirty="0"/>
              <a:t>git push</a:t>
            </a:r>
          </a:p>
          <a:p>
            <a:r>
              <a:rPr lang="en-US" dirty="0"/>
              <a:t>Retrieve the latest changes from remote repo:</a:t>
            </a:r>
          </a:p>
          <a:p>
            <a:pPr lvl="1"/>
            <a:r>
              <a:rPr lang="en-US" dirty="0"/>
              <a:t>git fetch             ## download the latest files from remote repo</a:t>
            </a:r>
          </a:p>
          <a:p>
            <a:pPr lvl="1"/>
            <a:r>
              <a:rPr lang="en-US" dirty="0"/>
              <a:t>git pull                ## download the latest files </a:t>
            </a:r>
            <a:r>
              <a:rPr lang="en-US" b="1" dirty="0"/>
              <a:t>and merge </a:t>
            </a:r>
            <a:r>
              <a:rPr lang="en-US" dirty="0"/>
              <a:t>into your local repo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72E404-248C-27AC-1DD1-D90AC6B8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Git command cont.</a:t>
            </a:r>
          </a:p>
        </p:txBody>
      </p:sp>
    </p:spTree>
    <p:extLst>
      <p:ext uri="{BB962C8B-B14F-4D97-AF65-F5344CB8AC3E}">
        <p14:creationId xmlns:p14="http://schemas.microsoft.com/office/powerpoint/2010/main" val="199809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1215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Git &amp; GitHub Review</vt:lpstr>
      <vt:lpstr>Functionality</vt:lpstr>
      <vt:lpstr>Git Repo</vt:lpstr>
      <vt:lpstr>Git forking</vt:lpstr>
      <vt:lpstr>PowerPoint Presentation</vt:lpstr>
      <vt:lpstr>Git Branching</vt:lpstr>
      <vt:lpstr>Git Command pipeline</vt:lpstr>
      <vt:lpstr>Workflow</vt:lpstr>
      <vt:lpstr>Workflow</vt:lpstr>
      <vt:lpstr>Workflow cont. </vt:lpstr>
      <vt:lpstr>Git command</vt:lpstr>
      <vt:lpstr>Git command cont.</vt:lpstr>
      <vt:lpstr>Git command 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Ha, Seungyeon</dc:creator>
  <cp:lastModifiedBy>Ha, Seungyeon</cp:lastModifiedBy>
  <cp:revision>6</cp:revision>
  <dcterms:created xsi:type="dcterms:W3CDTF">2026-09-15T18:57:45Z</dcterms:created>
  <dcterms:modified xsi:type="dcterms:W3CDTF">2026-09-16T16:58:42Z</dcterms:modified>
</cp:coreProperties>
</file>